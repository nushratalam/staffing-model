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KCCF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Bookings</c:v>
                  </c:pt>
                  <c:pt idx="1">
                    <c:v>Releases</c:v>
                  </c:pt>
                  <c:pt idx="2">
                    <c:v>Psych housing census</c:v>
                  </c:pt>
                  <c:pt idx="3">
                    <c:v>Clinic visits</c:v>
                  </c:pt>
                  <c:pt idx="4">
                    <c:v>Med passes (000s)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11051</c:v>
                </c:pt>
                <c:pt idx="1">
                  <c:v>10749</c:v>
                </c:pt>
                <c:pt idx="2">
                  <c:v>67</c:v>
                </c:pt>
                <c:pt idx="3">
                  <c:v>8625</c:v>
                </c:pt>
                <c:pt idx="4">
                  <c:v>593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MRJC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Bookings</c:v>
                  </c:pt>
                  <c:pt idx="1">
                    <c:v>Releases</c:v>
                  </c:pt>
                  <c:pt idx="2">
                    <c:v>Psych housing census</c:v>
                  </c:pt>
                  <c:pt idx="3">
                    <c:v>Clinic visits</c:v>
                  </c:pt>
                  <c:pt idx="4">
                    <c:v>Med passes (000s)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6905</c:v>
                </c:pt>
                <c:pt idx="1">
                  <c:v>6694</c:v>
                </c:pt>
                <c:pt idx="2">
                  <c:v>52</c:v>
                </c:pt>
                <c:pt idx="3">
                  <c:v>6405</c:v>
                </c:pt>
                <c:pt idx="4">
                  <c:v>464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E1B2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KCCF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E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Nursing Svc</c:v>
                  </c:pt>
                  <c:pt idx="1">
                    <c:v>Social Svc</c:v>
                  </c:pt>
                  <c:pt idx="2">
                    <c:v>Psychiatric Svc</c:v>
                  </c:pt>
                  <c:pt idx="3">
                    <c:v>HI&amp;CA</c:v>
                  </c:pt>
                  <c:pt idx="4">
                    <c:v>Medical &amp; Dental Prov.</c:v>
                  </c:pt>
                  <c:pt idx="5">
                    <c:v>Pharmacy Svc</c:v>
                  </c:pt>
                  <c:pt idx="6">
                    <c:v>Clin. Ops</c:v>
                  </c:pt>
                  <c:pt idx="7">
                    <c:v>Administration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68.6</c:v>
                </c:pt>
                <c:pt idx="1">
                  <c:v>33.9</c:v>
                </c:pt>
                <c:pt idx="2">
                  <c:v>12.8</c:v>
                </c:pt>
                <c:pt idx="3">
                  <c:v>11.9</c:v>
                </c:pt>
                <c:pt idx="4">
                  <c:v>7.9</c:v>
                </c:pt>
                <c:pt idx="5">
                  <c:v>10.8</c:v>
                </c:pt>
                <c:pt idx="6">
                  <c:v>10.4</c:v>
                </c:pt>
                <c:pt idx="7">
                  <c:v>10.4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MRJC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E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Nursing Svc</c:v>
                  </c:pt>
                  <c:pt idx="1">
                    <c:v>Social Svc</c:v>
                  </c:pt>
                  <c:pt idx="2">
                    <c:v>Psychiatric Svc</c:v>
                  </c:pt>
                  <c:pt idx="3">
                    <c:v>HI&amp;CA</c:v>
                  </c:pt>
                  <c:pt idx="4">
                    <c:v>Medical &amp; Dental Prov.</c:v>
                  </c:pt>
                  <c:pt idx="5">
                    <c:v>Pharmacy Svc</c:v>
                  </c:pt>
                  <c:pt idx="6">
                    <c:v>Clin. Ops</c:v>
                  </c:pt>
                  <c:pt idx="7">
                    <c:v>Administration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50.4</c:v>
                </c:pt>
                <c:pt idx="1">
                  <c:v>20.2</c:v>
                </c:pt>
                <c:pt idx="2">
                  <c:v>7.7</c:v>
                </c:pt>
                <c:pt idx="3">
                  <c:v>5.1</c:v>
                </c:pt>
                <c:pt idx="4">
                  <c:v>5.9</c:v>
                </c:pt>
                <c:pt idx="5">
                  <c:v>8.1</c:v>
                </c:pt>
                <c:pt idx="6">
                  <c:v>4.6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E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E1B2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KCCF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Baseline (current 2025)</c:v>
                  </c:pt>
                  <c:pt idx="1">
                    <c:v>Rec #1: tightened wait-time standard (25-day median)</c:v>
                  </c:pt>
                  <c:pt idx="2">
                    <c:v>Rec #7/9: 14-day release supply for all eligible</c:v>
                  </c:pt>
                  <c:pt idx="3">
                    <c:v>Rec #8: 24/7 release pharmacy &amp; planning</c:v>
                  </c:pt>
                  <c:pt idx="4">
                    <c:v>1115 Waiver go-live (July 2026) first 6 months</c:v>
                  </c:pt>
                  <c:pt idx="5">
                    <c:v>1115 Waiver + 30-day supply for ALL releases</c:v>
                  </c:pt>
                  <c:pt idx="6">
                    <c:v>MOUD census doubles to ~480 (projected 2027)</c:v>
                  </c:pt>
                  <c:pt idx="7">
                    <c:v>NCCHC BH-standard adoption (Rec #12) ongoing</c:v>
                  </c:pt>
                  <c:pt idx="8">
                    <c:v>All 2026 initiatives combined (Dec 2026 end-state)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166.7</c:v>
                </c:pt>
                <c:pt idx="1">
                  <c:v>169.7</c:v>
                </c:pt>
                <c:pt idx="2">
                  <c:v>171.7</c:v>
                </c:pt>
                <c:pt idx="3">
                  <c:v>173.7</c:v>
                </c:pt>
                <c:pt idx="4">
                  <c:v>175.7</c:v>
                </c:pt>
                <c:pt idx="5">
                  <c:v>181.7</c:v>
                </c:pt>
                <c:pt idx="6">
                  <c:v>169.7</c:v>
                </c:pt>
                <c:pt idx="7">
                  <c:v>168.7</c:v>
                </c:pt>
                <c:pt idx="8">
                  <c:v>185.7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MRJC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Baseline (current 2025)</c:v>
                  </c:pt>
                  <c:pt idx="1">
                    <c:v>Rec #1: tightened wait-time standard (25-day median)</c:v>
                  </c:pt>
                  <c:pt idx="2">
                    <c:v>Rec #7/9: 14-day release supply for all eligible</c:v>
                  </c:pt>
                  <c:pt idx="3">
                    <c:v>Rec #8: 24/7 release pharmacy &amp; planning</c:v>
                  </c:pt>
                  <c:pt idx="4">
                    <c:v>1115 Waiver go-live (July 2026) first 6 months</c:v>
                  </c:pt>
                  <c:pt idx="5">
                    <c:v>1115 Waiver + 30-day supply for ALL releases</c:v>
                  </c:pt>
                  <c:pt idx="6">
                    <c:v>MOUD census doubles to ~480 (projected 2027)</c:v>
                  </c:pt>
                  <c:pt idx="7">
                    <c:v>NCCHC BH-standard adoption (Rec #12) ongoing</c:v>
                  </c:pt>
                  <c:pt idx="8">
                    <c:v>All 2026 initiatives combined (Dec 2026 end-state)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102.1</c:v>
                </c:pt>
                <c:pt idx="1">
                  <c:v>105.1</c:v>
                </c:pt>
                <c:pt idx="2">
                  <c:v>105.1</c:v>
                </c:pt>
                <c:pt idx="3">
                  <c:v>106.1</c:v>
                </c:pt>
                <c:pt idx="4">
                  <c:v>108.1</c:v>
                </c:pt>
                <c:pt idx="5">
                  <c:v>111.1</c:v>
                </c:pt>
                <c:pt idx="6">
                  <c:v>106.1</c:v>
                </c:pt>
                <c:pt idx="7">
                  <c:v>102.1</c:v>
                </c:pt>
                <c:pt idx="8">
                  <c:v>115.1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1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E1B2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5486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baseline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— SEATTLE &amp; KING COUNTY · JAIL HEALTH SERVICES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Health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Staffing Model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model logic, outputs, and scenario results.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36576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120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Nushrat Alam, MPH, AIPEC, PMEC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· Senior Business Analyst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artifact ·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leadership asked for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Recommendation #1 is the core deliverable of this role.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703320" cy="39319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3703320" cy="731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926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recommendations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37490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 King County Auditor's Office. JHS, DAJD, and the Executive Office concurred with all twelve. The single deliverable nearest to this role is Recommendation #1 — a behavioral health staffing plan due March 1, 2026.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2103120"/>
            <a:ext cx="3703320" cy="39319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1688" y="2103120"/>
            <a:ext cx="3703320" cy="731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317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1728" y="2926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INITIATIVES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81728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moving parts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681728" y="37490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ADA settlement implementation, 1115 Waiver go-live (July 2026), NCCHC reaccreditation, MOUD expansion, and psychiatric wait-time reduction — each with its own staffing implication.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66176" y="2103120"/>
            <a:ext cx="3703320" cy="39319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6176" y="2103120"/>
            <a:ext cx="3703320" cy="731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3317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86216" y="2926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SCOPE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86216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Co-create the plan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586216" y="37490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Business Analyst leads the staffing analysis and co-creates the flexible staffing model with clinical leaders — across KCCF and MRJC, 250+ employees, $60M+ budget, 24/7 operations.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PRINCIPLE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staffing model is — and isn't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workload volumes and time standards into defensible FTE requirements.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109728" cy="39319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staffing model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link between workload and staffing.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Activity-by-activity math — how many bookings, how many appointments, how many med passes — multiplied by a time standard, divided by productive minutes per FTE.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at budget hearings.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leadership asks 'why do you need 12 more nurses,' the answer is an activity, not an opinion.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931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2103120"/>
            <a:ext cx="109728" cy="3931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staffing model IS NOT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analytics dashboard.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describe performance; a staffing model prescribes how many people you need to achieve a service standard.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headcount divided by role share.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a budget ceiling by Division percentages does not tell you whether the service can actually be delivered.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CALCULATION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formula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activity. Two formulas. One denominator.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0" cy="1920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PER-ENCOUNTER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 = </a:t>
            </a:r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(Volume × Min/Unit) ÷ Productive Min/FTE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17,956 bookings × 30 min per intake BH screen ÷ 99,840 = 5.4 nursing FTE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1920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 = </a:t>
            </a:r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Positions × Coverage Factor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6 infirmary RN positions × 4.20 (24/7) = 25.2 nursing FTE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11247120" cy="18288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43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MINUTES PER FTE PER YEAR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2,080 hrs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hours per FTE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80%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(1 − 20% non-productive)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60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1792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hour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99,840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6112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min / FTE / yr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activity volumes pulled from 2025 operating data — split by facility.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82880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17,956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Bookings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182880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Population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182880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17,443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340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Releases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182880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MOUD Census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2011680"/>
            <a:ext cx="182880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1,056,716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8388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Passes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0" y="2011680"/>
            <a:ext cx="1828800" cy="11887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27,864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10412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Calls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SPLIT — PRIMARY WORKLOAD DRIVERS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3794760"/>
          <a:ext cx="7315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8046720" y="3794760"/>
            <a:ext cx="3657600" cy="2560320"/>
          </a:xfrm>
          <a:prstGeom prst="rect">
            <a:avLst/>
          </a:prstGeom>
          <a:solidFill>
            <a:srgbClr val="0E1B2D"/>
          </a:solidFill>
          <a:ln/>
        </p:spPr>
      </p:sp>
      <p:sp>
        <p:nvSpPr>
          <p:cNvPr id="27" name="Text 24"/>
          <p:cNvSpPr/>
          <p:nvPr/>
        </p:nvSpPr>
        <p:spPr>
          <a:xfrm>
            <a:off x="827532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75320" y="4251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KCCF carries more bookings and is the primary psychiatric housing site.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MRJC carries a larger MOUD census (123 vs 82 at Jan 2026).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Division number hides this.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workload requires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269</a:t>
            </a:r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FTE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250-FTE Division baseline — a gap of +19 positions.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109728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KCCF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 FTE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MRJC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4617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 FTE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total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617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269 FTE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50392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total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ROLE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 by role group × facility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traceable to an activity and a time standard.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63040"/>
                <a:gridCol w="1463040"/>
                <a:gridCol w="1737360"/>
                <a:gridCol w="173736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KCCF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MRJC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(est.)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Nursing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Psychiatric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Info &amp; Clinical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&amp; Dental Providers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Pharmacy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open gaps: </a:t>
            </a:r>
            <a:pPr indent="0" marL="0">
              <a:buNone/>
            </a:pPr>
            <a:r>
              <a:rPr lang="en-US" sz="1300" i="1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Services (+12.8 FTE, driven by med-pass volume and 24/7 coverage) and Social Services (+9.4 FTE, reflecting the full team structure in the JHS org chart — not just the release-planning encounter work).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FACILITY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facility split matters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Division, two different staffing stories.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46720" y="237744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KCCF-heavy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2651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Nursing, Social Services, Psych, and HI&amp;CA — driven by higher booking and release volumes at the downtown facility.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46720" y="333756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Even-split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and Medical Providers — roughly proportional to census and service demand.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46720" y="429768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MRJC-adjacent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5720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MOUD-linked work (pharmacy LAI prep, SUD counseling) should trend toward MRJC as its MOUD census grows.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525780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5257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KCCF-only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5532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and Division-wide leadership sit at KCCF — that is a facility-assignment choice, not a workload claim.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Defending a number: Nursing Services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how the 119 nursing FTE breaks down.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7772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13716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/ Positions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administration (med pass)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1,056,716 events × 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Infirmary RN coverage (24/7)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positions × 4.20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nurse coverage (24/7)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positions × 4.20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 housing nursing rounds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 pts × 20 min/day × 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Withdrawal management nursing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pts × 25 min/day × 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 supervisors (5 positions)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1.20 (w/ PTO buffer)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BH 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17,956 × 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 housing RN floor (12×7)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positions × 2.10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Suicide watch RN oversight (24/7)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position × 4.20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nursing activities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 smaller categories combined)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2011680"/>
            <a:ext cx="3200400" cy="4114800"/>
          </a:xfrm>
          <a:prstGeom prst="rect">
            <a:avLst/>
          </a:prstGeom>
          <a:solidFill>
            <a:srgbClr val="0E1B2D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ANSWER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246888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need 119 nursing FTE?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passes alone consume 32. Infirmary, psych housing floor, and suicide watch coverage are another 46. Supervision and intake are 11. The rest is distributed clinical work.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is editable — tighten a time standard, shrink a position count, and the total recalculates.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modeling — 2026 initiatives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initiative translated into incremental FTE by facility.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2026 initiatives combined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Division from ~269 FTE to ~301 FTE — a +32 FTE ask, of which 19 is KCCF and 13 is MRJC.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·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detail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initiative priced in incremental FTE — KCCF and MRJC separately.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1188720"/>
                <a:gridCol w="1188720"/>
                <a:gridCol w="11887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KCCF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MRJC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(current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 #1: tightened wait-time standard (25-day median)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 #7/9: 14-day release supply for all eligible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 #8: 24/7 release pharmacy &amp;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1115 Waiver go-live (July 2026) first 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1115 Waiver + 30-day supply for ALL releases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MOUD census doubles to ~480 (projected 2027)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NCCHC BH-standard adoption (Rec #12) ongoing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2026 initiatives combined (Dec 2026 end-state)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table: </a:t>
            </a:r>
            <a:pPr indent="0" marL="0">
              <a:buNone/>
            </a:pPr>
            <a:r>
              <a:rPr lang="en-US" sz="1200" i="1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Δ columns show incremental FTE above the 2025 baseline for each initiative. The 'all combined' row at bottom is the end-of-2026 ask if every initiative proceeds on the current audit-concurred schedule.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framework, not a budget request. Here's what needs to happen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703320" cy="7315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does well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FTE number traces to an activity and a time standard — nothing is from a percentage assumption.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splits reflect actual 2025 volumes, not an assumed share.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math lets leadership see the cost of each 2026 initiative independently.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calculations are transparent Excel formulas — nothing is a black box.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2011680"/>
            <a:ext cx="3703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21488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needs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61688" y="260604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Time-per-unit values are industry benchmarks. Every one must be validated by the role-group lead (Nursing, Social Services, Psychiatric, Pharmacy, Medical).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factors assume current CBA rules — validate with HR and bargaining-unit reps.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in production should be EPIC, JMS, and Kronos — this model uses a 2025 prototype dataset.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250-FTE baseline is a presentation figure — reconcile against Kronos before final submission.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66176" y="2011680"/>
            <a:ext cx="3703320" cy="73152"/>
          </a:xfrm>
          <a:prstGeom prst="rect">
            <a:avLst/>
          </a:prstGeom>
          <a:solidFill>
            <a:srgbClr val="6B7785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21488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out of scope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6176" y="260604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modeling (the JD specifies the BA role is FTE-focused; a Financial Analyst partners on dollar conversion).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Shift-level scheduling — this model produces annual FTE, not day-of-week or shift allocation.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 or productivity — the model is about capacity, not evaluation.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JHS Behavioral Health Staffing Model</a:t>
            </a:r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Nushrat Alam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analysis behind the </a:t>
            </a:r>
            <a:pPr indent="0" marL="0">
              <a:buNone/>
            </a:pPr>
            <a:r>
              <a:rPr lang="en-US" sz="48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staffing plan that holds up under the audit's March 2026 deadline — and under the budget questions that follow — is built activity by activity, facility by facility, with every number defensible.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kind of work I want to do for Jail Health Services.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5303520"/>
            <a:ext cx="36576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303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Nushrat Alam, MPH, AIPEC, PMEC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nushrat.alam@gmail.com  ·  (850) 586-1521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linkedin.com/in/nzalam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JHS Behavioral Health Staffing Model</dc:title>
  <dc:subject>Senior Business Analyst — interview walkthrough</dc:subject>
  <dc:creator>Nushrat Alam</dc:creator>
  <cp:lastModifiedBy>Nushrat Alam</cp:lastModifiedBy>
  <cp:revision>1</cp:revision>
  <dcterms:created xsi:type="dcterms:W3CDTF">2026-04-21T03:00:41Z</dcterms:created>
  <dcterms:modified xsi:type="dcterms:W3CDTF">2026-04-21T03:00:41Z</dcterms:modified>
</cp:coreProperties>
</file>